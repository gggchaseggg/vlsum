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5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5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FF28A-46C9-4D93-9B2B-39977D90DE95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2478D-44EE-4C47-B5DF-7532FD285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52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0D81-2C65-4ED8-AC76-18975CB2E62C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8774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ABCA4-19B1-4E52-B1E7-A286E2497B84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711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4980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91520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533B7-7A10-4969-ACCE-C8F6AD729B05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26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6A145-6EAF-4330-B8B5-3740A3310841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74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4568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CA0B-1F8E-4EB0-ADC1-2E37E325C455}" type="datetime1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37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7442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71031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92128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3051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71273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78564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7126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59092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80083F4-3D59-4181-B9CA-D3D7AE14120B}" type="datetime1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2036-835C-4A97-8D2F-71B3257B1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1857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AAAA14-CAF1-4FF0-8390-7D241F3085E0}"/>
              </a:ext>
            </a:extLst>
          </p:cNvPr>
          <p:cNvSpPr txBox="1"/>
          <p:nvPr/>
        </p:nvSpPr>
        <p:spPr>
          <a:xfrm>
            <a:off x="417871" y="107742"/>
            <a:ext cx="11356257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«Владимирский государственный университет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имени Александра Григорьевича и Николая Григорьевича Столетовых»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и программной инженерии</a:t>
            </a:r>
            <a:br>
              <a:rPr lang="ru-RU" sz="1100" dirty="0"/>
            </a:br>
            <a:r>
              <a:rPr lang="ru-RU" sz="1100" dirty="0"/>
              <a:t> </a:t>
            </a:r>
            <a:br>
              <a:rPr lang="ru-RU" sz="1100" dirty="0"/>
            </a:br>
            <a:r>
              <a:rPr lang="ru-RU" sz="1100" dirty="0"/>
              <a:t> </a:t>
            </a:r>
            <a:br>
              <a:rPr lang="ru-RU" sz="1100" dirty="0"/>
            </a:br>
            <a:r>
              <a:rPr lang="ru-RU" sz="1100" dirty="0"/>
              <a:t> </a:t>
            </a:r>
            <a:br>
              <a:rPr lang="ru-RU" sz="1100" dirty="0"/>
            </a:b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000" dirty="0"/>
            </a:br>
            <a:r>
              <a:rPr lang="ru-RU" sz="2000" dirty="0"/>
              <a:t> </a:t>
            </a:r>
            <a:br>
              <a:rPr lang="ru-RU" sz="2000" dirty="0"/>
            </a:b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Программное обеспечение для оптимизации технологического стека и управления кадрами в разработке ПО с интеграцией элементов искусственного интеллекта</a:t>
            </a:r>
          </a:p>
          <a:p>
            <a:pPr algn="ctr"/>
            <a:b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/>
            </a:br>
            <a:r>
              <a:rPr lang="ru-RU" sz="1100" dirty="0"/>
              <a:t>  </a:t>
            </a:r>
            <a:br>
              <a:rPr lang="ru-RU" sz="1100" dirty="0"/>
            </a:br>
            <a:r>
              <a:rPr lang="ru-RU" sz="1100" i="1" dirty="0"/>
              <a:t>	</a:t>
            </a:r>
            <a:endParaRPr lang="ru-RU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C9AF444-275E-4BBD-A1C0-F293B4E1129A}"/>
              </a:ext>
            </a:extLst>
          </p:cNvPr>
          <p:cNvSpPr txBox="1"/>
          <p:nvPr/>
        </p:nvSpPr>
        <p:spPr>
          <a:xfrm>
            <a:off x="7686859" y="4632878"/>
            <a:ext cx="45051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студент гр. ПРИм-124 		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Грачев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Принял: преподаватель кафедры ИСПИ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Тимофеев А.А.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8238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4DC81-998A-4DB2-9C87-5100C1A2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057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6963A-BB71-40AA-A559-F2519E8F5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Основной целью работы является разработка распределенной информационной системы для автоматизации процесса подбора проектных команд с использованием сервис-ориентированной архитектуры (SOA) и технологий искусственного интеллекта 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Основные задачи разработки: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r>
              <a:rPr lang="ru-RU" dirty="0"/>
              <a:t>Анализ предметной области и проблем ручного подбора персонала</a:t>
            </a:r>
          </a:p>
          <a:p>
            <a:pPr algn="just"/>
            <a:r>
              <a:rPr lang="ru-RU" dirty="0"/>
              <a:t>Проектирование гетерогенной архитектуры системы (Java + Node.js)</a:t>
            </a:r>
          </a:p>
          <a:p>
            <a:pPr algn="just"/>
            <a:r>
              <a:rPr lang="ru-RU" dirty="0"/>
              <a:t>Моделирование бизнес-процесса в нотации BPMN 2.0</a:t>
            </a:r>
          </a:p>
          <a:p>
            <a:pPr algn="just"/>
            <a:r>
              <a:rPr lang="ru-RU" dirty="0"/>
              <a:t>Разработка веб-сервисов (SOAP и REST) и их интеграция</a:t>
            </a:r>
          </a:p>
          <a:p>
            <a:pPr algn="just"/>
            <a:r>
              <a:rPr lang="ru-RU" dirty="0"/>
              <a:t>Реализация </a:t>
            </a:r>
            <a:r>
              <a:rPr lang="ru-RU" dirty="0" err="1"/>
              <a:t>оркестрации</a:t>
            </a:r>
            <a:r>
              <a:rPr lang="ru-RU" dirty="0"/>
              <a:t> процессов на базе </a:t>
            </a:r>
            <a:r>
              <a:rPr lang="ru-RU" dirty="0" err="1"/>
              <a:t>Camunda</a:t>
            </a:r>
            <a:r>
              <a:rPr lang="ru-RU" dirty="0"/>
              <a:t> BPM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7E31B5-FDDB-4040-98F1-699B87C9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36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FC5511-9A7C-4348-B893-50AE2030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154"/>
            <a:ext cx="10515600" cy="483780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Предметная область исследования охватывает процессы управления человеческими ресурсами в IT-компаниях. Основной проблемой является высокая трудоемкость ручного анализа профилей сотрудников при формировании команд для новых проектов 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Ключевые аспекты:</a:t>
            </a:r>
          </a:p>
          <a:p>
            <a:pPr algn="just"/>
            <a:r>
              <a:rPr lang="ru-RU" dirty="0"/>
              <a:t>Необходимость учета множества технических компетенций сотрудников</a:t>
            </a:r>
          </a:p>
          <a:p>
            <a:pPr algn="just"/>
            <a:r>
              <a:rPr lang="ru-RU" dirty="0"/>
              <a:t>Внедрение генеративных языковых моделей (LLM) позволяет перейти от поиска по ключевым словам к семантическому анализу требований проекта</a:t>
            </a:r>
          </a:p>
          <a:p>
            <a:pPr algn="just"/>
            <a:r>
              <a:rPr lang="ru-RU" dirty="0"/>
              <a:t>Автоматизация позволяет сократить время поиска и повысить точность распределения проектных ролей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8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Требования к системе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FC5511-9A7C-4348-B893-50AE2030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154"/>
            <a:ext cx="10515600" cy="4837809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dirty="0"/>
              <a:t>Функциональные требования :</a:t>
            </a:r>
          </a:p>
          <a:p>
            <a:pPr algn="just"/>
            <a:r>
              <a:rPr lang="ru-RU" dirty="0"/>
              <a:t>Система должна предоставлять возможность ввода описания проекта с валидацией данных</a:t>
            </a:r>
          </a:p>
          <a:p>
            <a:pPr algn="just"/>
            <a:r>
              <a:rPr lang="ru-RU" dirty="0"/>
              <a:t>Система должна автоматически получать список сотрудников из внешнего реестра (SOAP)</a:t>
            </a:r>
          </a:p>
          <a:p>
            <a:pPr algn="just"/>
            <a:r>
              <a:rPr lang="ru-RU" dirty="0"/>
              <a:t>Система должна выполнять интеллектуальный подбор кандидатов с использованием AI</a:t>
            </a:r>
          </a:p>
          <a:p>
            <a:pPr algn="just"/>
            <a:r>
              <a:rPr lang="ru-RU" dirty="0"/>
              <a:t>Система должна предоставлять возможность ручной обработки заявки при отсутствии результатов</a:t>
            </a:r>
          </a:p>
          <a:p>
            <a:pPr algn="just"/>
            <a:r>
              <a:rPr lang="ru-RU" dirty="0"/>
              <a:t>Система должна маршрутизировать задачу утверждения (CTO или PM) в зависимости от статуса VIP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Нефункциональные требования :</a:t>
            </a:r>
          </a:p>
          <a:p>
            <a:pPr algn="just"/>
            <a:r>
              <a:rPr lang="ru-RU" dirty="0"/>
              <a:t>Архитектура: Сервис-ориентированная (SOA)</a:t>
            </a:r>
          </a:p>
          <a:p>
            <a:pPr algn="just"/>
            <a:r>
              <a:rPr lang="ru-RU" dirty="0"/>
              <a:t>Производительность: Асинхронная обработка длительных запросов без блокировки UI</a:t>
            </a:r>
          </a:p>
          <a:p>
            <a:pPr algn="just"/>
            <a:r>
              <a:rPr lang="ru-RU" dirty="0"/>
              <a:t>Стек технологий: Java Spring Boot, Node.js (</a:t>
            </a:r>
            <a:r>
              <a:rPr lang="ru-RU" dirty="0" err="1"/>
              <a:t>TypeScript</a:t>
            </a:r>
            <a:r>
              <a:rPr lang="ru-RU" dirty="0"/>
              <a:t>), </a:t>
            </a:r>
            <a:r>
              <a:rPr lang="ru-RU" dirty="0" err="1"/>
              <a:t>amunda</a:t>
            </a:r>
            <a:r>
              <a:rPr lang="ru-RU" dirty="0"/>
              <a:t> BPM, Google </a:t>
            </a:r>
            <a:r>
              <a:rPr lang="ru-RU" dirty="0" err="1"/>
              <a:t>Gemini</a:t>
            </a:r>
            <a:r>
              <a:rPr lang="ru-RU" dirty="0"/>
              <a:t> API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657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системы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826F0F9-4596-40B9-B5EB-236690CB080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7359" y="2535694"/>
            <a:ext cx="6559058" cy="32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5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6A6A0F-FB9D-401B-B6D2-2D2B38EB515D}"/>
              </a:ext>
            </a:extLst>
          </p:cNvPr>
          <p:cNvSpPr txBox="1"/>
          <p:nvPr/>
        </p:nvSpPr>
        <p:spPr>
          <a:xfrm>
            <a:off x="607633" y="2078942"/>
            <a:ext cx="56397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Система построена на принципах </a:t>
            </a:r>
            <a:r>
              <a:rPr lang="ru-RU" dirty="0" err="1"/>
              <a:t>микросервисной</a:t>
            </a:r>
            <a:r>
              <a:rPr lang="ru-RU" dirty="0"/>
              <a:t> архитектуры и включает три основных узла:</a:t>
            </a:r>
          </a:p>
          <a:p>
            <a:pPr algn="just"/>
            <a:endParaRPr lang="ru-RU" dirty="0"/>
          </a:p>
          <a:p>
            <a:pPr marL="342900" indent="-342900" algn="just">
              <a:buFont typeface="+mj-lt"/>
              <a:buAutoNum type="arabicPeriod"/>
            </a:pPr>
            <a:r>
              <a:rPr lang="ru-RU" dirty="0" err="1"/>
              <a:t>Employee</a:t>
            </a:r>
            <a:r>
              <a:rPr lang="ru-RU" dirty="0"/>
              <a:t> Service (Java): Хранение данных о сотрудниках (Legacy-стиль, SOAP).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/>
              <a:t>Analysis Service (Node.js): Интеллектуальный анализ и взаимодействие с AI (Modern-стиль, REST).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 err="1"/>
              <a:t>Orchestrator</a:t>
            </a:r>
            <a:r>
              <a:rPr lang="ru-RU" dirty="0"/>
              <a:t> (</a:t>
            </a:r>
            <a:r>
              <a:rPr lang="ru-RU" dirty="0" err="1"/>
              <a:t>Camunda</a:t>
            </a:r>
            <a:r>
              <a:rPr lang="ru-RU" dirty="0"/>
              <a:t>): Управление бизнес-процессом и пользовательский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69260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 данных и контракты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FC5511-9A7C-4348-B893-50AE2030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39154"/>
            <a:ext cx="5257800" cy="483780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Для обеспечения взаимодействия разнородных систем разработаны строгие контракты данных: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r>
              <a:rPr lang="ru-RU" dirty="0"/>
              <a:t>XSD схема (SOAP): Описывает структуру профиля сотрудника (ID, имя, технологии) для строгой типизации при обмене данными с Java-сервисом.</a:t>
            </a:r>
          </a:p>
          <a:p>
            <a:pPr algn="just"/>
            <a:r>
              <a:rPr lang="ru-RU" dirty="0"/>
              <a:t>JSON схема (REST): Определяет формат запроса к AI-</a:t>
            </a:r>
            <a:r>
              <a:rPr lang="ru-RU" dirty="0" err="1"/>
              <a:t>моделю</a:t>
            </a:r>
            <a:r>
              <a:rPr lang="ru-RU" dirty="0"/>
              <a:t> и структуру ответа, включающую сгенерированные роли и рекомендации.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771A6-D5D4-4BAE-9042-C87D822654A5}"/>
              </a:ext>
            </a:extLst>
          </p:cNvPr>
          <p:cNvSpPr txBox="1"/>
          <p:nvPr/>
        </p:nvSpPr>
        <p:spPr>
          <a:xfrm>
            <a:off x="7018759" y="289679"/>
            <a:ext cx="64966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xs:complexType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name="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EmployeeInfo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xs:sequence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xs:element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name="id" type="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xs:long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"/&gt;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xs:element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name="name" type="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xs:string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"/&gt;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xs:element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name="technologies" type="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xs:string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maxOccurs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="unbounded"/&gt;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&lt;/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xs:sequence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&lt;/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xs:complexType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xs:element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name="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getAllEmployeesResponse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xs:complexType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xs:sequence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&lt;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xs:element</a:t>
            </a:r>
            <a:endParaRPr lang="ru-RU" sz="1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name="employee«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type="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tns:EmployeeInfo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maxOccurs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="unbounded"/&gt;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&lt;/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xs:sequence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&lt;/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xs:complexType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&lt;/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xs:element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4B6AD-9968-46AD-A80A-3D87282BCB31}"/>
              </a:ext>
            </a:extLst>
          </p:cNvPr>
          <p:cNvSpPr txBox="1"/>
          <p:nvPr/>
        </p:nvSpPr>
        <p:spPr>
          <a:xfrm>
            <a:off x="6757712" y="3412777"/>
            <a:ext cx="67577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marR="168275" algn="just">
              <a:spcAft>
                <a:spcPts val="0"/>
              </a:spcAft>
            </a:pP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Структура запроса (</a:t>
            </a:r>
            <a:r>
              <a:rPr lang="ru-RU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Request</a:t>
            </a: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</a:p>
          <a:p>
            <a:pPr marL="180340" marR="168275" algn="just">
              <a:spcAft>
                <a:spcPts val="0"/>
              </a:spcAft>
            </a:pP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</a:p>
          <a:p>
            <a:pPr marL="180340" marR="168275" algn="just">
              <a:spcAft>
                <a:spcPts val="0"/>
              </a:spcAft>
            </a:pP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"</a:t>
            </a:r>
            <a:r>
              <a:rPr lang="ru-RU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projectDescription</a:t>
            </a: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": "Текстовое описание требований...",</a:t>
            </a:r>
          </a:p>
          <a:p>
            <a:pPr marL="180340" marR="168275" algn="just">
              <a:spcAft>
                <a:spcPts val="0"/>
              </a:spcAft>
            </a:pP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"employees": [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{ "name": "</a:t>
            </a: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Иван Иванов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", "technologies": ["Java", "Spring"] }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]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Структура ответа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(Response)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"</a:t>
            </a:r>
            <a:r>
              <a:rPr lang="en-US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recommendedTeam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": [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{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"name": "</a:t>
            </a: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Иван Иванов</a:t>
            </a: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",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"technologies": ["Java", "Spring"],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"role": "Backend Developer"</a:t>
            </a:r>
            <a:endParaRPr lang="ru-RU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80340" marR="168275" algn="just">
              <a:spcAft>
                <a:spcPts val="0"/>
              </a:spcAft>
            </a:pPr>
            <a:r>
              <a:rPr lang="en-US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</a:p>
          <a:p>
            <a:pPr marL="180340" marR="168275" algn="just">
              <a:spcAft>
                <a:spcPts val="0"/>
              </a:spcAft>
            </a:pP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]</a:t>
            </a:r>
          </a:p>
          <a:p>
            <a:pPr marL="180340" marR="168275" algn="just">
              <a:spcAft>
                <a:spcPts val="0"/>
              </a:spcAft>
            </a:pPr>
            <a:r>
              <a:rPr lang="ru-RU" sz="1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159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Моделирование бизнес-процесса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5C17FD1-58A0-47F8-B11A-6E917998FF7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640687"/>
            <a:ext cx="8947150" cy="301966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02BB6-7423-4D6E-9112-6484FB319583}"/>
              </a:ext>
            </a:extLst>
          </p:cNvPr>
          <p:cNvSpPr txBox="1"/>
          <p:nvPr/>
        </p:nvSpPr>
        <p:spPr>
          <a:xfrm>
            <a:off x="576662" y="1320560"/>
            <a:ext cx="113518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Разработанная BPMN-диаграмма описывает логику работы системы:</a:t>
            </a:r>
          </a:p>
          <a:p>
            <a:pPr algn="just"/>
            <a:endParaRPr lang="ru-RU" dirty="0"/>
          </a:p>
          <a:p>
            <a:pPr marL="342900" indent="-342900" algn="just">
              <a:buFont typeface="+mj-lt"/>
              <a:buAutoNum type="arabicPeriod"/>
            </a:pPr>
            <a:r>
              <a:rPr lang="ru-RU" dirty="0"/>
              <a:t>Валидация входящей заявки (цикл исправления ошибок).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/>
              <a:t>Параллельное или последовательное выполнение сервисных задач (Service </a:t>
            </a:r>
            <a:r>
              <a:rPr lang="ru-RU" dirty="0" err="1"/>
              <a:t>Tasks</a:t>
            </a:r>
            <a:r>
              <a:rPr lang="ru-RU" dirty="0"/>
              <a:t>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/>
              <a:t>Обработка исключительных ситуаций (ветка "Ручной поиск").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/>
              <a:t>Вариативность утверждения (ветвление по условию VIP-статуса).</a:t>
            </a:r>
          </a:p>
        </p:txBody>
      </p:sp>
    </p:spTree>
    <p:extLst>
      <p:ext uri="{BB962C8B-B14F-4D97-AF65-F5344CB8AC3E}">
        <p14:creationId xmlns:p14="http://schemas.microsoft.com/office/powerpoint/2010/main" val="180193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</a:t>
            </a:r>
            <a:r>
              <a:rPr lang="en-US" dirty="0"/>
              <a:t>SOAP </a:t>
            </a:r>
            <a:r>
              <a:rPr lang="ru-RU" dirty="0"/>
              <a:t>сервиса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BDE74CC-35D0-4AA0-83CE-B75B4378D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2559" y="2052638"/>
            <a:ext cx="7628658" cy="419576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972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</a:t>
            </a:r>
            <a:r>
              <a:rPr lang="en-US" dirty="0"/>
              <a:t>REST </a:t>
            </a:r>
            <a:r>
              <a:rPr lang="ru-RU" dirty="0"/>
              <a:t>сервиса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6718C1B-F413-400C-9792-837C7B67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8649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Сервис анализа реализован на платформе Node.js. Он формирует </a:t>
            </a:r>
            <a:r>
              <a:rPr lang="ru-RU" dirty="0" err="1"/>
              <a:t>промпт</a:t>
            </a:r>
            <a:r>
              <a:rPr lang="ru-RU" dirty="0"/>
              <a:t> для LLM модели и обрабатывает JSON-ответ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9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F9FD1A-7BDC-45D8-9327-10B2E1885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219" y="930081"/>
            <a:ext cx="4692023" cy="542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8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Оркестратора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6718C1B-F413-400C-9792-837C7B67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6979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Интеграция с внешними сервисами осуществляется через Java </a:t>
            </a:r>
            <a:r>
              <a:rPr lang="ru-RU" dirty="0" err="1"/>
              <a:t>Delegates</a:t>
            </a:r>
            <a:r>
              <a:rPr lang="ru-RU" dirty="0"/>
              <a:t> в движке </a:t>
            </a:r>
            <a:r>
              <a:rPr lang="ru-RU" dirty="0" err="1"/>
              <a:t>Camunda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10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C9D7BE-7081-4AD5-8ED4-5C9207150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531" y="1191668"/>
            <a:ext cx="5693685" cy="471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1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2A105-EBC8-44C8-A1B1-D798A1EA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Пользовательский интерфейс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6718C1B-F413-400C-9792-837C7B67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4987"/>
            <a:ext cx="4937268" cy="42419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Для взаимодействия с пользователем используются встроенные формы (</a:t>
            </a:r>
            <a:r>
              <a:rPr lang="ru-RU" dirty="0" err="1"/>
              <a:t>Embedded</a:t>
            </a:r>
            <a:r>
              <a:rPr lang="ru-RU" dirty="0"/>
              <a:t> </a:t>
            </a:r>
            <a:r>
              <a:rPr lang="ru-RU" dirty="0" err="1"/>
              <a:t>Forms</a:t>
            </a:r>
            <a:r>
              <a:rPr lang="ru-RU" dirty="0"/>
              <a:t>)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r>
              <a:rPr lang="ru-RU" dirty="0"/>
              <a:t>Визуализация результатов подбора в табличном виде</a:t>
            </a:r>
          </a:p>
          <a:p>
            <a:pPr algn="just"/>
            <a:r>
              <a:rPr lang="ru-RU" dirty="0"/>
              <a:t>Отображение ролей, сгенерированных искусственным интеллектом</a:t>
            </a:r>
          </a:p>
          <a:p>
            <a:pPr algn="just"/>
            <a:r>
              <a:rPr lang="ru-RU" dirty="0"/>
              <a:t>Возможность принятия решения</a:t>
            </a:r>
            <a:r>
              <a:rPr lang="en-US" dirty="0"/>
              <a:t> </a:t>
            </a:r>
            <a:r>
              <a:rPr lang="ru-RU" dirty="0"/>
              <a:t>непосредственно в интерфейсе 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CACC0-D2FA-4A7E-969E-DD1B771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11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82A6DA-5016-4CCD-8A44-414A5163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410" y="2064775"/>
            <a:ext cx="5569371" cy="285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11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4DC81-998A-4DB2-9C87-5100C1A2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057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6963A-BB71-40AA-A559-F2519E8F5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Реализована гетерогенная архитектура (Java + Node.js)</a:t>
            </a:r>
          </a:p>
          <a:p>
            <a:pPr algn="just"/>
            <a:r>
              <a:rPr lang="ru-RU" dirty="0"/>
              <a:t>Внедрен искусственный интеллект для семантического анализа требований</a:t>
            </a:r>
          </a:p>
          <a:p>
            <a:pPr algn="just"/>
            <a:r>
              <a:rPr lang="ru-RU" dirty="0"/>
              <a:t>Обеспечена бесшовная интеграция компонентов через </a:t>
            </a:r>
            <a:r>
              <a:rPr lang="ru-RU" dirty="0" err="1"/>
              <a:t>Camunda</a:t>
            </a:r>
            <a:r>
              <a:rPr lang="ru-RU" dirty="0"/>
              <a:t> BPM</a:t>
            </a:r>
          </a:p>
          <a:p>
            <a:pPr algn="just"/>
            <a:r>
              <a:rPr lang="ru-RU" dirty="0"/>
              <a:t>Цель курсового проекта достигнута в полном объеме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7E31B5-FDDB-4040-98F1-699B87C9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2036-835C-4A97-8D2F-71B3257B13A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683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835</Words>
  <Application>Microsoft Office PowerPoint</Application>
  <PresentationFormat>Широкоэкранный</PresentationFormat>
  <Paragraphs>114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Courier New</vt:lpstr>
      <vt:lpstr>Times New Roman</vt:lpstr>
      <vt:lpstr>Wingdings 3</vt:lpstr>
      <vt:lpstr>Ион</vt:lpstr>
      <vt:lpstr>Презентация PowerPoint</vt:lpstr>
      <vt:lpstr>Цель и задачи работы</vt:lpstr>
      <vt:lpstr>Описание предметной области</vt:lpstr>
      <vt:lpstr>Требования к системе</vt:lpstr>
      <vt:lpstr>Архитектура системы</vt:lpstr>
      <vt:lpstr>Модели данных и контракты</vt:lpstr>
      <vt:lpstr>Моделирование бизнес-процесса</vt:lpstr>
      <vt:lpstr>Реализация SOAP сервиса</vt:lpstr>
      <vt:lpstr>Реализация REST сервиса</vt:lpstr>
      <vt:lpstr>Реализация Оркестратора</vt:lpstr>
      <vt:lpstr>Пользовательский интерфейс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Даниил Грачев</dc:creator>
  <cp:lastModifiedBy>Даниил Грачев</cp:lastModifiedBy>
  <cp:revision>4</cp:revision>
  <dcterms:created xsi:type="dcterms:W3CDTF">2026-02-11T19:25:09Z</dcterms:created>
  <dcterms:modified xsi:type="dcterms:W3CDTF">2026-02-11T19:55:57Z</dcterms:modified>
</cp:coreProperties>
</file>