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50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98999-4116-4829-8CB9-E5AA6B6AF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EDA8FF-8906-4236-AC30-794702819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725FE9-187E-4D83-8176-766584558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1306-4322-489B-A2F6-5DCD27D91800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DEA83-E7FB-4745-AD75-2E135E81B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9B0E97-B3A4-46D1-BE89-FE654BEB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5903-1D4D-47E4-8C97-B13CEC8399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18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AAA5D2-3E40-4A55-A577-6291F417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D4877A-6FA2-4F5E-A859-16B89F1E1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42D21F-BC83-498D-8649-3681D830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1306-4322-489B-A2F6-5DCD27D91800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63DED1-211E-46FD-B3D8-396C9091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A9D1D6-7405-4AEC-B4D0-AD446AAFD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5903-1D4D-47E4-8C97-B13CEC8399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817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ADC454-1227-4F4E-8227-47A95ECAA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06DE3C-8896-44F7-8D71-6157F45D4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7C2DCA-CB43-4AEE-A115-A3BC56F5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1306-4322-489B-A2F6-5DCD27D91800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DB98BE-9DBD-48A0-B211-EC6EA26DA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1565C8-9297-4EE8-8F91-4A598F5EC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5903-1D4D-47E4-8C97-B13CEC8399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054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01155A-99E7-494B-B896-796CA59F5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60824-E06B-44D1-AA3C-F34E81A55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E70E5D-3693-4670-BA68-0EFF184E1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6AD1DE-E9AE-4043-8AF3-F7CB5B10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1306-4322-489B-A2F6-5DCD27D91800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6B293C-FC61-48D1-A42B-B25BBB26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27C8D2-BB57-4BD0-9FD6-4B63CFFB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5903-1D4D-47E4-8C97-B13CEC8399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867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C40E21-08E5-42B8-A51D-E9BED8B5F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32C186-7803-45FE-9B22-9E0D34ED8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23CFA0-A661-4EF5-A5DB-9EE6D3280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7D550F4-7159-4C1F-A979-DDE5F88C5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AD6CFBC-A895-45A0-B866-E59A49BD71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9C27E76-11A9-4F3E-A85D-3FE9FFB6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1306-4322-489B-A2F6-5DCD27D91800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F3F0720-7A93-4FCC-9315-17D97343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5B1124F-4718-4A76-A2E0-6C79FB49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5903-1D4D-47E4-8C97-B13CEC8399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704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A159F5-5F89-4492-9D1E-DB099F19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1A14482-C06A-477F-9753-1346DAA6D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1306-4322-489B-A2F6-5DCD27D91800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0F27F3B-578A-4D31-93E0-22ED9F6E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F0F52D-8F83-4683-BF38-D58EE217E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5903-1D4D-47E4-8C97-B13CEC8399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4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2F7E7FF-A979-4065-8F0A-EED7016BD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1306-4322-489B-A2F6-5DCD27D91800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615BD1-36F1-4BFC-93E3-46C571D61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66A223-145A-436E-A5D2-D2CE7F49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5903-1D4D-47E4-8C97-B13CEC8399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92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3AABD2-7E43-4B62-B350-09F81AA8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4FF0A1-483A-4D3A-83D8-3FA0AA6AB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43DF08-8A23-47E0-B451-C8FC15359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FEE625-E673-4C97-ACCB-140E95951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1306-4322-489B-A2F6-5DCD27D91800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069D21-7F5D-49B4-844A-49DEFD24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F6FCF3-657C-47F1-B5B0-3112D558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5903-1D4D-47E4-8C97-B13CEC8399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589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EE222-49D8-4305-A321-053B57ABC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53D3124-DCDB-4697-8192-A765A5F480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7EECA1-8F9D-4F13-BCAC-1F9426AA9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5A6905-EDC5-4FA3-8C4E-956A294B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1306-4322-489B-A2F6-5DCD27D91800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F2B5C4-76CB-49F3-BD98-B074F5FA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5EAFAE-1232-4DE7-8D24-0C0424E8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5903-1D4D-47E4-8C97-B13CEC8399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430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C662DE-0975-4EBA-ABA9-5E55833D4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944CB79-CF55-4FDC-9EEE-7A7756EF1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F19B3-C147-4344-BE64-BDE2261A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1306-4322-489B-A2F6-5DCD27D91800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99951-5D67-4107-9F90-D43EDE533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74A3C8-A660-440B-B893-F272CCC5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5903-1D4D-47E4-8C97-B13CEC8399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95CB1A-A69B-4F64-AEC1-7A8EB1A542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F704DA-21D8-4DF7-905D-70F932426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AF90CD-1C34-47AA-92A5-8E85C203B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1306-4322-489B-A2F6-5DCD27D91800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644A9B-1CB3-47DC-9250-68635976D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74F140-3CC0-4B37-B5CA-E0DE8C13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5903-1D4D-47E4-8C97-B13CEC8399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977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A592E-FE8F-4324-8075-0BB38642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3056DE-8108-45EF-A6D6-EC9A70CA9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CED5DF-4BDD-4220-93A9-60460313BE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C1306-4322-489B-A2F6-5DCD27D91800}" type="datetimeFigureOut">
              <a:rPr lang="ru-RU" smtClean="0"/>
              <a:t>28.09.2025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DD84D9-9470-46CD-8C13-B068BC981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60040C-35E5-44B3-A1AD-D10423264D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85903-1D4D-47E4-8C97-B13CEC8399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591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060638-EC97-5706-AD0F-69C5371A3313}"/>
              </a:ext>
            </a:extLst>
          </p:cNvPr>
          <p:cNvSpPr txBox="1"/>
          <p:nvPr/>
        </p:nvSpPr>
        <p:spPr>
          <a:xfrm>
            <a:off x="2079170" y="0"/>
            <a:ext cx="71628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effectLst/>
                <a:latin typeface="ArialMT"/>
              </a:rPr>
              <a:t>Министерство науки и высшего образования </a:t>
            </a:r>
            <a:r>
              <a:rPr lang="ru-RU" sz="1200" dirty="0" err="1">
                <a:effectLst/>
                <a:latin typeface="ArialMT"/>
              </a:rPr>
              <a:t>Российскои</a:t>
            </a:r>
            <a:r>
              <a:rPr lang="ru-RU" sz="1200" dirty="0">
                <a:effectLst/>
                <a:latin typeface="ArialMT"/>
              </a:rPr>
              <a:t>̆ Федерации Федеральное государственное бюджетное образовательное учреждение высшего образования «</a:t>
            </a:r>
            <a:r>
              <a:rPr lang="ru-RU" sz="1200" dirty="0" err="1">
                <a:effectLst/>
                <a:latin typeface="ArialMT"/>
              </a:rPr>
              <a:t>Владимирскии</a:t>
            </a:r>
            <a:r>
              <a:rPr lang="ru-RU" sz="1200" dirty="0">
                <a:effectLst/>
                <a:latin typeface="ArialMT"/>
              </a:rPr>
              <a:t>̆ </a:t>
            </a:r>
            <a:r>
              <a:rPr lang="ru-RU" sz="1200" dirty="0" err="1">
                <a:effectLst/>
                <a:latin typeface="ArialMT"/>
              </a:rPr>
              <a:t>государственныи</a:t>
            </a:r>
            <a:r>
              <a:rPr lang="ru-RU" sz="1200" dirty="0">
                <a:effectLst/>
                <a:latin typeface="ArialMT"/>
              </a:rPr>
              <a:t>̆ университет имени Александра Григорьевича и Николая Григорьевича Столетовых» (ВлГУ) </a:t>
            </a:r>
            <a:endParaRPr lang="ru-RU" sz="1200" dirty="0">
              <a:effectLst/>
            </a:endParaRPr>
          </a:p>
          <a:p>
            <a:pPr algn="ctr"/>
            <a:r>
              <a:rPr lang="ru-RU" sz="1200" dirty="0">
                <a:effectLst/>
                <a:latin typeface="ArialMT"/>
              </a:rPr>
              <a:t>Институт информационных технологий и электроники</a:t>
            </a:r>
          </a:p>
          <a:p>
            <a:pPr algn="ctr"/>
            <a:r>
              <a:rPr lang="ru-RU" sz="1200" dirty="0">
                <a:effectLst/>
                <a:latin typeface="ArialMT"/>
              </a:rPr>
              <a:t>Кафедра информационных систем и </a:t>
            </a:r>
            <a:r>
              <a:rPr lang="ru-RU" sz="1200" dirty="0" err="1">
                <a:effectLst/>
                <a:latin typeface="ArialMT"/>
              </a:rPr>
              <a:t>программнои</a:t>
            </a:r>
            <a:r>
              <a:rPr lang="ru-RU" sz="1200" dirty="0">
                <a:effectLst/>
                <a:latin typeface="ArialMT"/>
              </a:rPr>
              <a:t>̆ инженерии </a:t>
            </a:r>
            <a:endParaRPr lang="ru-RU" sz="1200" dirty="0">
              <a:effectLst/>
            </a:endParaRPr>
          </a:p>
          <a:p>
            <a:pPr algn="ctr"/>
            <a:endParaRPr lang="ru-RU" sz="2400" b="1" dirty="0">
              <a:effectLst/>
              <a:latin typeface="Tahoma" panose="020B0604030504040204" pitchFamily="34" charset="0"/>
            </a:endParaRPr>
          </a:p>
          <a:p>
            <a:pPr algn="ctr"/>
            <a:r>
              <a:rPr lang="ru-RU" sz="16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Теоретическое исследование по теме диссертации: Выявление факторов, влияющих на задачу и ее элементы, взаимосвязи задачи и ее элементов. Формулирование теоретической модели.</a:t>
            </a:r>
          </a:p>
          <a:p>
            <a:pPr algn="ctr"/>
            <a:endParaRPr lang="ru-RU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sz="24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Тема диссертации: Программное обеспечение для оптимизации технологического стека и управления кадрами в разработке ПО с интеграцией элементов ИИ</a:t>
            </a:r>
            <a:endParaRPr lang="ru-RU" sz="24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CF55F-617F-CF59-3D8C-FBD014BB2899}"/>
              </a:ext>
            </a:extLst>
          </p:cNvPr>
          <p:cNvSpPr txBox="1"/>
          <p:nvPr/>
        </p:nvSpPr>
        <p:spPr>
          <a:xfrm>
            <a:off x="4321629" y="5557424"/>
            <a:ext cx="7870371" cy="772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algn="r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Выполнил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Грачев Даниил Алексеевич</a:t>
            </a:r>
            <a:endParaRPr lang="en-US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algn="r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Принял: Андрианова Валентина Ивановна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2533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114A9-5100-4F97-9694-937BB6783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5174"/>
          </a:xfrm>
        </p:spPr>
        <p:txBody>
          <a:bodyPr>
            <a:normAutofit fontScale="90000"/>
          </a:bodyPr>
          <a:lstStyle/>
          <a:p>
            <a:r>
              <a:rPr lang="ru-RU" dirty="0"/>
              <a:t>Введение и цель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56F9D1-1523-42D6-96BE-F76D895BA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5192"/>
            <a:ext cx="10515600" cy="5191771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Тема:</a:t>
            </a:r>
            <a:r>
              <a:rPr lang="ru-RU" dirty="0"/>
              <a:t> Программное обеспечение для оптимизации технологического стека и управления кадрами в разработке ПО с интеграцией элементов искусственного интеллекта</a:t>
            </a:r>
          </a:p>
          <a:p>
            <a:pPr marL="0" indent="0">
              <a:lnSpc>
                <a:spcPct val="120000"/>
              </a:lnSpc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Цель исследования: </a:t>
            </a:r>
            <a:r>
              <a:rPr lang="ru-RU" dirty="0"/>
              <a:t>Выявление ключевых факторов, влияющих на эффективность программного комплекса и разработка теоретической модели, прогнозирующей его результативность по ключевым метрикам.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Задачи исследования: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Провести анализ предметной области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Определить ключевые факторы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Разработать теоретическую регрессионную модель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Провести вычислительный эксперимент</a:t>
            </a:r>
          </a:p>
        </p:txBody>
      </p:sp>
    </p:spTree>
    <p:extLst>
      <p:ext uri="{BB962C8B-B14F-4D97-AF65-F5344CB8AC3E}">
        <p14:creationId xmlns:p14="http://schemas.microsoft.com/office/powerpoint/2010/main" val="1487573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3EF29C-99D6-4307-8110-5CA1D76E8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 исследования и методология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FEA3CB-96BB-45C9-ACAB-9FDB51EDE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Объект исследования:</a:t>
            </a:r>
            <a:r>
              <a:rPr lang="ru-RU" dirty="0"/>
              <a:t> Процесс автоматизированного принятия решений по оптимизации технологического стека и управлению кадрами с использованием элементов искусственного интеллекта в условиях </a:t>
            </a:r>
            <a:r>
              <a:rPr lang="ru-RU" dirty="0" err="1"/>
              <a:t>многопроектной</a:t>
            </a:r>
            <a:r>
              <a:rPr lang="ru-RU" dirty="0"/>
              <a:t> разработки программного обеспечения.</a:t>
            </a:r>
          </a:p>
          <a:p>
            <a:pPr marL="0" indent="0">
              <a:lnSpc>
                <a:spcPct val="120000"/>
              </a:lnSpc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Подход «Черный ящик»:</a:t>
            </a:r>
            <a:r>
              <a:rPr lang="ru-RU" dirty="0"/>
              <a:t> Анализируем систему по ее входным и выходным параметрам без детализации внутренних процессов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Ключевые этапы: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Идентификация факторов влияния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Корреляционный анализ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Построение регрессионной модели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Проверка адекватности и точности</a:t>
            </a:r>
          </a:p>
        </p:txBody>
      </p:sp>
    </p:spTree>
    <p:extLst>
      <p:ext uri="{BB962C8B-B14F-4D97-AF65-F5344CB8AC3E}">
        <p14:creationId xmlns:p14="http://schemas.microsoft.com/office/powerpoint/2010/main" val="2194653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8688CF-A89C-4A76-B827-963092A9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Факторы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2008AC-318E-4F64-BE14-2F3B887AE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822172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/>
              <a:t>Входные параметры:</a:t>
            </a:r>
            <a:r>
              <a:rPr lang="ru-RU" dirty="0"/>
              <a:t> размер команды(</a:t>
            </a:r>
            <a:r>
              <a:rPr lang="en-US" dirty="0"/>
              <a:t>x1</a:t>
            </a:r>
            <a:r>
              <a:rPr lang="ru-RU" dirty="0"/>
              <a:t>), бюджет</a:t>
            </a:r>
            <a:r>
              <a:rPr lang="en-US" dirty="0"/>
              <a:t>(x2)</a:t>
            </a:r>
            <a:r>
              <a:rPr lang="ru-RU" dirty="0"/>
              <a:t>, целевая сложность</a:t>
            </a:r>
            <a:r>
              <a:rPr lang="en-US" dirty="0"/>
              <a:t>(x3)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Контролируемые параметры:</a:t>
            </a:r>
            <a:r>
              <a:rPr lang="ru-RU" dirty="0"/>
              <a:t> квалификация команды</a:t>
            </a:r>
            <a:r>
              <a:rPr lang="en-US" dirty="0"/>
              <a:t>(u1)</a:t>
            </a:r>
            <a:r>
              <a:rPr lang="ru-RU" dirty="0"/>
              <a:t>, устаревание стека</a:t>
            </a:r>
            <a:r>
              <a:rPr lang="en-US" dirty="0"/>
              <a:t>(u2)</a:t>
            </a:r>
            <a:r>
              <a:rPr lang="ru-RU" dirty="0"/>
              <a:t>, нагрузка команды</a:t>
            </a:r>
            <a:r>
              <a:rPr lang="en-US" dirty="0"/>
              <a:t>(u3)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Неконтролируемые параметры:</a:t>
            </a:r>
            <a:r>
              <a:rPr lang="ru-RU" dirty="0"/>
              <a:t> текучка кадров</a:t>
            </a:r>
            <a:r>
              <a:rPr lang="en-US" dirty="0"/>
              <a:t>(z1)</a:t>
            </a:r>
            <a:r>
              <a:rPr lang="ru-RU" dirty="0"/>
              <a:t>, технологические тренды</a:t>
            </a:r>
            <a:r>
              <a:rPr lang="en-US" dirty="0"/>
              <a:t>(z2)</a:t>
            </a:r>
            <a:r>
              <a:rPr lang="ru-RU" dirty="0"/>
              <a:t>, изменение приоритетов</a:t>
            </a:r>
            <a:r>
              <a:rPr lang="en-US" dirty="0"/>
              <a:t>(z3)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Выходные параметры:</a:t>
            </a:r>
            <a:r>
              <a:rPr lang="ru-RU" dirty="0"/>
              <a:t> время выполнения проекта</a:t>
            </a:r>
            <a:r>
              <a:rPr lang="en-US" dirty="0"/>
              <a:t>(y1)</a:t>
            </a:r>
            <a:r>
              <a:rPr lang="ru-RU" dirty="0"/>
              <a:t>, процент успешных проектов</a:t>
            </a:r>
            <a:r>
              <a:rPr lang="en-US" dirty="0"/>
              <a:t>(y2)</a:t>
            </a:r>
            <a:r>
              <a:rPr lang="ru-RU" dirty="0"/>
              <a:t>, удовлетворенность разработчиков</a:t>
            </a:r>
            <a:r>
              <a:rPr lang="en-US" dirty="0"/>
              <a:t>(y3)</a:t>
            </a:r>
            <a:r>
              <a:rPr lang="ru-RU" dirty="0"/>
              <a:t>, экономия бюджета</a:t>
            </a:r>
            <a:r>
              <a:rPr lang="en-US" dirty="0"/>
              <a:t>(y4)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CBB19C-29E5-47F2-8242-D33942F616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07856" y="1893693"/>
            <a:ext cx="4849218" cy="383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58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4A99C-87D9-412A-8FA4-B8C584D74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корреляционного анализа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413C3E1-CEBD-4579-B83D-30EE4AD00D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1202031"/>
              </p:ext>
            </p:extLst>
          </p:nvPr>
        </p:nvGraphicFramePr>
        <p:xfrm>
          <a:off x="3414987" y="1690688"/>
          <a:ext cx="5362020" cy="23471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2404">
                  <a:extLst>
                    <a:ext uri="{9D8B030D-6E8A-4147-A177-3AD203B41FA5}">
                      <a16:colId xmlns:a16="http://schemas.microsoft.com/office/drawing/2014/main" val="25087904"/>
                    </a:ext>
                  </a:extLst>
                </a:gridCol>
                <a:gridCol w="1072404">
                  <a:extLst>
                    <a:ext uri="{9D8B030D-6E8A-4147-A177-3AD203B41FA5}">
                      <a16:colId xmlns:a16="http://schemas.microsoft.com/office/drawing/2014/main" val="3577758364"/>
                    </a:ext>
                  </a:extLst>
                </a:gridCol>
                <a:gridCol w="1072404">
                  <a:extLst>
                    <a:ext uri="{9D8B030D-6E8A-4147-A177-3AD203B41FA5}">
                      <a16:colId xmlns:a16="http://schemas.microsoft.com/office/drawing/2014/main" val="3930092621"/>
                    </a:ext>
                  </a:extLst>
                </a:gridCol>
                <a:gridCol w="1072404">
                  <a:extLst>
                    <a:ext uri="{9D8B030D-6E8A-4147-A177-3AD203B41FA5}">
                      <a16:colId xmlns:a16="http://schemas.microsoft.com/office/drawing/2014/main" val="735806070"/>
                    </a:ext>
                  </a:extLst>
                </a:gridCol>
                <a:gridCol w="1072404">
                  <a:extLst>
                    <a:ext uri="{9D8B030D-6E8A-4147-A177-3AD203B41FA5}">
                      <a16:colId xmlns:a16="http://schemas.microsoft.com/office/drawing/2014/main" val="3980321870"/>
                    </a:ext>
                  </a:extLst>
                </a:gridCol>
              </a:tblGrid>
              <a:tr h="4694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Параметр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y</a:t>
                      </a:r>
                      <a:r>
                        <a:rPr lang="en-US" sz="14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x</a:t>
                      </a:r>
                      <a:r>
                        <a:rPr lang="en-US" sz="14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x</a:t>
                      </a:r>
                      <a:r>
                        <a:rPr lang="en-US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x</a:t>
                      </a:r>
                      <a:r>
                        <a:rPr lang="en-US" sz="14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9475783"/>
                  </a:ext>
                </a:extLst>
              </a:tr>
              <a:tr h="4694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y</a:t>
                      </a:r>
                      <a:r>
                        <a:rPr lang="en-US" sz="14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-0.24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0.92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0.98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3300535"/>
                  </a:ext>
                </a:extLst>
              </a:tr>
              <a:tr h="4694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x</a:t>
                      </a:r>
                      <a:r>
                        <a:rPr lang="en-US" sz="14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-0.24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0.31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-0.21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0781403"/>
                  </a:ext>
                </a:extLst>
              </a:tr>
              <a:tr h="4694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x</a:t>
                      </a:r>
                      <a:r>
                        <a:rPr lang="en-US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0.92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0.31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0.89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5929370"/>
                  </a:ext>
                </a:extLst>
              </a:tr>
              <a:tr h="4694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x</a:t>
                      </a:r>
                      <a:r>
                        <a:rPr lang="en-US" sz="14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0.98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-0.21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0.89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1.00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54130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BDB0542-56D5-4944-8B46-79ECCC97CBF0}"/>
              </a:ext>
            </a:extLst>
          </p:cNvPr>
          <p:cNvSpPr txBox="1"/>
          <p:nvPr/>
        </p:nvSpPr>
        <p:spPr>
          <a:xfrm>
            <a:off x="838198" y="4869427"/>
            <a:ext cx="105155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На время выполнения проекта наибольшее влияние оказывают сложность проектов и бюджет.</a:t>
            </a:r>
          </a:p>
          <a:p>
            <a:r>
              <a:rPr lang="ru-RU" sz="2400" dirty="0"/>
              <a:t>Размер команды имеет слабое влияние и может быть исключен из модели.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397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28D20-CBF0-43B5-B04D-C25A30DC1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Регрессионная статистика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8869168-EAC6-45D1-98E1-B6B0EC24BC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7486953"/>
              </p:ext>
            </p:extLst>
          </p:nvPr>
        </p:nvGraphicFramePr>
        <p:xfrm>
          <a:off x="3733554" y="1690688"/>
          <a:ext cx="4724892" cy="17217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2446">
                  <a:extLst>
                    <a:ext uri="{9D8B030D-6E8A-4147-A177-3AD203B41FA5}">
                      <a16:colId xmlns:a16="http://schemas.microsoft.com/office/drawing/2014/main" val="1258345263"/>
                    </a:ext>
                  </a:extLst>
                </a:gridCol>
                <a:gridCol w="2362446">
                  <a:extLst>
                    <a:ext uri="{9D8B030D-6E8A-4147-A177-3AD203B41FA5}">
                      <a16:colId xmlns:a16="http://schemas.microsoft.com/office/drawing/2014/main" val="1236369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Показатель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Значение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4349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Множественный R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0.993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2645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R-квадрат (R²)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0.986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439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Нормированный R-квадрат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0.984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4413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Стандартная ошибка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1.21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5643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Наблюдения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20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02797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BE4382-307D-486D-8588-A610F8D3C9CD}"/>
              </a:ext>
            </a:extLst>
          </p:cNvPr>
          <p:cNvSpPr txBox="1"/>
          <p:nvPr/>
        </p:nvSpPr>
        <p:spPr>
          <a:xfrm>
            <a:off x="761017" y="3645802"/>
            <a:ext cx="1096690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000" dirty="0">
                <a:effectLst/>
                <a:ea typeface="Calibri" panose="020F0502020204030204" pitchFamily="34" charset="0"/>
              </a:rPr>
              <a:t>Показатели:</a:t>
            </a:r>
          </a:p>
          <a:p>
            <a:pPr marL="342900" indent="-342900" algn="just">
              <a:spcAft>
                <a:spcPts val="800"/>
              </a:spcAft>
              <a:buFont typeface="+mj-lt"/>
              <a:buAutoNum type="arabicPeriod"/>
            </a:pPr>
            <a:r>
              <a:rPr lang="ru-RU" sz="2000" dirty="0">
                <a:ea typeface="Calibri" panose="020F0502020204030204" pitchFamily="34" charset="0"/>
              </a:rPr>
              <a:t>Множественный </a:t>
            </a:r>
            <a:r>
              <a:rPr lang="en-US" sz="2000" dirty="0">
                <a:ea typeface="Calibri" panose="020F0502020204030204" pitchFamily="34" charset="0"/>
              </a:rPr>
              <a:t>R</a:t>
            </a:r>
            <a:r>
              <a:rPr lang="ru-RU" sz="2000" dirty="0">
                <a:ea typeface="Calibri" panose="020F0502020204030204" pitchFamily="34" charset="0"/>
              </a:rPr>
              <a:t>: очень сильная степень линейной связи между всеми независимыми переменными вместе взятыми и зависимой переменной</a:t>
            </a:r>
          </a:p>
          <a:p>
            <a:pPr marL="342900" indent="-342900" algn="just">
              <a:spcAft>
                <a:spcPts val="800"/>
              </a:spcAft>
              <a:buFont typeface="+mj-lt"/>
              <a:buAutoNum type="arabicPeriod"/>
            </a:pPr>
            <a:r>
              <a:rPr lang="en-US" sz="2000" dirty="0">
                <a:ea typeface="Calibri" panose="020F0502020204030204" pitchFamily="34" charset="0"/>
              </a:rPr>
              <a:t>R-</a:t>
            </a:r>
            <a:r>
              <a:rPr lang="ru-RU" sz="2000" dirty="0">
                <a:ea typeface="Calibri" panose="020F0502020204030204" pitchFamily="34" charset="0"/>
              </a:rPr>
              <a:t>квадрат: 98.6% вариации среднего времени выполнения проекта объясняется вариацией включенных в модель факторов</a:t>
            </a:r>
          </a:p>
          <a:p>
            <a:pPr marL="342900" indent="-342900" algn="just">
              <a:spcAft>
                <a:spcPts val="800"/>
              </a:spcAft>
              <a:buFont typeface="+mj-lt"/>
              <a:buAutoNum type="arabicPeriod"/>
            </a:pPr>
            <a:r>
              <a:rPr lang="ru-RU" sz="2000" dirty="0">
                <a:ea typeface="Calibri" panose="020F0502020204030204" pitchFamily="34" charset="0"/>
              </a:rPr>
              <a:t>Нормированный </a:t>
            </a:r>
            <a:r>
              <a:rPr lang="en-US" sz="2000" dirty="0">
                <a:ea typeface="Calibri" panose="020F0502020204030204" pitchFamily="34" charset="0"/>
              </a:rPr>
              <a:t>R-</a:t>
            </a:r>
            <a:r>
              <a:rPr lang="ru-RU" sz="2000" dirty="0">
                <a:ea typeface="Calibri" panose="020F0502020204030204" pitchFamily="34" charset="0"/>
              </a:rPr>
              <a:t>квадрат: скорректированный показатель, который учитывает количество факторов в модели и "штрафует" за добавление незначимых переменных</a:t>
            </a:r>
          </a:p>
          <a:p>
            <a:pPr marL="342900" indent="-342900" algn="just">
              <a:spcAft>
                <a:spcPts val="800"/>
              </a:spcAft>
              <a:buFont typeface="+mj-lt"/>
              <a:buAutoNum type="arabicPeriod"/>
            </a:pPr>
            <a:r>
              <a:rPr lang="ru-RU" sz="2000" dirty="0">
                <a:ea typeface="Calibri" panose="020F0502020204030204" pitchFamily="34" charset="0"/>
              </a:rPr>
              <a:t>Стандартная ошибка: среднее отклонение наблюдаемых значений от линии регрессии</a:t>
            </a:r>
          </a:p>
        </p:txBody>
      </p:sp>
    </p:spTree>
    <p:extLst>
      <p:ext uri="{BB962C8B-B14F-4D97-AF65-F5344CB8AC3E}">
        <p14:creationId xmlns:p14="http://schemas.microsoft.com/office/powerpoint/2010/main" val="3819011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453CF2-BE44-4216-ACBD-FD6F3F889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Финальная модель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D846A2-C8F3-47F8-880D-73B9E1676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3900" b="1" i="1" dirty="0"/>
              <a:t>ŷ = 3.12 + 0.15·x₂ + 5.87·x₃</a:t>
            </a:r>
          </a:p>
          <a:p>
            <a:pPr marL="0" indent="0" algn="ctr">
              <a:buNone/>
            </a:pPr>
            <a:endParaRPr lang="ru-RU" i="1" dirty="0"/>
          </a:p>
          <a:p>
            <a:pPr marL="0" indent="0">
              <a:buNone/>
            </a:pPr>
            <a:r>
              <a:rPr lang="ru-RU" dirty="0"/>
              <a:t>Проверка модели на адекватность: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R² = 0.986 – модель объясняет 98.6% вариации времени выполнения проекта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F-статистика = 1102.45 – модель адекватна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P-значение &lt; 0.001 – модель значима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Все коэффициенты p-значения для коэффициентов &lt; 0.05 – все коэффициенты значимы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t – статистика &gt; 2 – подтверждает значимость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3868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F6B63-BD08-4C52-A9E8-64E3EA589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влияния факторов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8F6A39-A8B2-4D6C-ADBD-8077A0F60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8895"/>
            <a:ext cx="10515600" cy="247806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/>
              <a:t>Несмотря на то, что оба фактора статистически значимы, сложность проекта (x3) является определяющим фактором для времени выполнения проекта. Бюджет (x2) оказывает существенно меньшее влияние. Это подтверждает первоначальный вывод о том, что увеличение бюджета скорее сопровождает сложные проекты, чем является инструментом сокращения сроков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66CE61C-1C55-4178-A9A3-55C179237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408030"/>
              </p:ext>
            </p:extLst>
          </p:nvPr>
        </p:nvGraphicFramePr>
        <p:xfrm>
          <a:off x="2511650" y="1690688"/>
          <a:ext cx="7168700" cy="8828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0137">
                  <a:extLst>
                    <a:ext uri="{9D8B030D-6E8A-4147-A177-3AD203B41FA5}">
                      <a16:colId xmlns:a16="http://schemas.microsoft.com/office/drawing/2014/main" val="2156647896"/>
                    </a:ext>
                  </a:extLst>
                </a:gridCol>
                <a:gridCol w="1227066">
                  <a:extLst>
                    <a:ext uri="{9D8B030D-6E8A-4147-A177-3AD203B41FA5}">
                      <a16:colId xmlns:a16="http://schemas.microsoft.com/office/drawing/2014/main" val="2701344174"/>
                    </a:ext>
                  </a:extLst>
                </a:gridCol>
                <a:gridCol w="1439443">
                  <a:extLst>
                    <a:ext uri="{9D8B030D-6E8A-4147-A177-3AD203B41FA5}">
                      <a16:colId xmlns:a16="http://schemas.microsoft.com/office/drawing/2014/main" val="1317400679"/>
                    </a:ext>
                  </a:extLst>
                </a:gridCol>
                <a:gridCol w="1468939">
                  <a:extLst>
                    <a:ext uri="{9D8B030D-6E8A-4147-A177-3AD203B41FA5}">
                      <a16:colId xmlns:a16="http://schemas.microsoft.com/office/drawing/2014/main" val="4075491544"/>
                    </a:ext>
                  </a:extLst>
                </a:gridCol>
                <a:gridCol w="1693115">
                  <a:extLst>
                    <a:ext uri="{9D8B030D-6E8A-4147-A177-3AD203B41FA5}">
                      <a16:colId xmlns:a16="http://schemas.microsoft.com/office/drawing/2014/main" val="28961438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Фактор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Коэффициент регрессии (b</a:t>
                      </a:r>
                      <a:r>
                        <a:rPr lang="en-US" sz="1400">
                          <a:effectLst/>
                        </a:rPr>
                        <a:t>i</a:t>
                      </a:r>
                      <a:r>
                        <a:rPr lang="ru-RU" sz="14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Коэффициент эластичности (Э)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Бета-коэффициент (β)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Интерпретация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8548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  <a:r>
                        <a:rPr lang="ru-RU" sz="1400">
                          <a:effectLst/>
                        </a:rPr>
                        <a:t>2 (Бюджет)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0,15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0,42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0,28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Умеренное влияние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305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x3</a:t>
                      </a:r>
                      <a:r>
                        <a:rPr lang="ru-RU" sz="1400" dirty="0">
                          <a:effectLst/>
                        </a:rPr>
                        <a:t> (Сложность)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5,87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0,85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0,91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Сильное влияние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8189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78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12DFA1-F82C-4E0F-B519-27B43D16E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точности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3C599A-4623-446F-BE2C-ABC73D207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11271"/>
            <a:ext cx="10515600" cy="226569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Модель демонстрирует высокую точность прогнозирования. Остатки распределены случайным образом, их среднее значение близко к нулю, а величина отклонений не превышает стандартную ошибку модели. Наибольшие отклонения (-2,49 и +1,38 дня) могут быть вызваны действием неучтенных в модели факторов (например, из группы Z — внезапные изменения требований, текучка кадров). В целом, модель адекватно описывает исходные данные и может использоваться для прогнозирования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E1BE656-E9A1-42FC-982B-FB85CFA96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218176"/>
              </p:ext>
            </p:extLst>
          </p:nvPr>
        </p:nvGraphicFramePr>
        <p:xfrm>
          <a:off x="2940091" y="1694161"/>
          <a:ext cx="6311818" cy="13091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5268">
                  <a:extLst>
                    <a:ext uri="{9D8B030D-6E8A-4147-A177-3AD203B41FA5}">
                      <a16:colId xmlns:a16="http://schemas.microsoft.com/office/drawing/2014/main" val="3940530534"/>
                    </a:ext>
                  </a:extLst>
                </a:gridCol>
                <a:gridCol w="1109079">
                  <a:extLst>
                    <a:ext uri="{9D8B030D-6E8A-4147-A177-3AD203B41FA5}">
                      <a16:colId xmlns:a16="http://schemas.microsoft.com/office/drawing/2014/main" val="1743203845"/>
                    </a:ext>
                  </a:extLst>
                </a:gridCol>
                <a:gridCol w="979293">
                  <a:extLst>
                    <a:ext uri="{9D8B030D-6E8A-4147-A177-3AD203B41FA5}">
                      <a16:colId xmlns:a16="http://schemas.microsoft.com/office/drawing/2014/main" val="101724344"/>
                    </a:ext>
                  </a:extLst>
                </a:gridCol>
                <a:gridCol w="1203468">
                  <a:extLst>
                    <a:ext uri="{9D8B030D-6E8A-4147-A177-3AD203B41FA5}">
                      <a16:colId xmlns:a16="http://schemas.microsoft.com/office/drawing/2014/main" val="2228272057"/>
                    </a:ext>
                  </a:extLst>
                </a:gridCol>
                <a:gridCol w="1409946">
                  <a:extLst>
                    <a:ext uri="{9D8B030D-6E8A-4147-A177-3AD203B41FA5}">
                      <a16:colId xmlns:a16="http://schemas.microsoft.com/office/drawing/2014/main" val="3758848138"/>
                    </a:ext>
                  </a:extLst>
                </a:gridCol>
                <a:gridCol w="1244764">
                  <a:extLst>
                    <a:ext uri="{9D8B030D-6E8A-4147-A177-3AD203B41FA5}">
                      <a16:colId xmlns:a16="http://schemas.microsoft.com/office/drawing/2014/main" val="1508164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№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x₂ (тыс. у.е.)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x₃ (баллы)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y₁ (факт, дни)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ŷ (прогноз, дни)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Остаток (y₁ - ŷ)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8007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50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20,76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+0,24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3612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75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35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35,62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-0,62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3367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120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48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50,49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-2,49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4523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60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28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27,80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+0,20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6897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65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66,75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-1,75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6441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64024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764</Words>
  <Application>Microsoft Office PowerPoint</Application>
  <PresentationFormat>Широкоэкранный</PresentationFormat>
  <Paragraphs>144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ArialMT</vt:lpstr>
      <vt:lpstr>Calibri</vt:lpstr>
      <vt:lpstr>Calibri Light</vt:lpstr>
      <vt:lpstr>Cambria</vt:lpstr>
      <vt:lpstr>Tahoma</vt:lpstr>
      <vt:lpstr>Тема Office</vt:lpstr>
      <vt:lpstr>Презентация PowerPoint</vt:lpstr>
      <vt:lpstr>Введение и цель исследования</vt:lpstr>
      <vt:lpstr>Объект исследования и методология</vt:lpstr>
      <vt:lpstr>Факторы системы</vt:lpstr>
      <vt:lpstr>Результаты корреляционного анализа</vt:lpstr>
      <vt:lpstr>Регрессионная статистика</vt:lpstr>
      <vt:lpstr>Финальная модель</vt:lpstr>
      <vt:lpstr>Анализ влияния факторов</vt:lpstr>
      <vt:lpstr>Проверка точности модели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Даниил Грачев</dc:creator>
  <cp:lastModifiedBy>Даниил Грачев</cp:lastModifiedBy>
  <cp:revision>4</cp:revision>
  <dcterms:created xsi:type="dcterms:W3CDTF">2025-09-28T14:26:38Z</dcterms:created>
  <dcterms:modified xsi:type="dcterms:W3CDTF">2025-09-28T14:53:18Z</dcterms:modified>
</cp:coreProperties>
</file>